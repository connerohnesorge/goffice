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/ppt/presentation.xml"></Relationship>
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</p:sldIdLst>
  <p:sldSz cx="9144000" cy="6858000" type="screen4x3"/>
  <p:notesSz cx="6858000" cy="9144000"/>
</p:presentation>
</file>

<file path=ppt/_rels/presentation.xml.rels><?xml version="1.0" encoding="UTF-8"?>
<Relationships xmlns="http://schemas.openxmlformats.org/package/2006/relationships">
  <Relationship Id="rId6" Type="http://schemas.openxmlformats.org/officeDocument/2006/relationships/slide" Target="/ppt/slides/slide6.xml"></Relationship>
  <Relationship Id="rId1" Type="http://schemas.openxmlformats.org/officeDocument/2006/relationships/slide" Target="/ppt/slides/slide1.xml"></Relationship>
  <Relationship Id="rId2" Type="http://schemas.openxmlformats.org/officeDocument/2006/relationships/slide" Target="/ppt/slides/slide2.xml"></Relationship>
  <Relationship Id="rId3" Type="http://schemas.openxmlformats.org/officeDocument/2006/relationships/slide" Target="/ppt/slides/slide3.xml"></Relationship>
  <Relationship Id="rId4" Type="http://schemas.openxmlformats.org/officeDocument/2006/relationships/slide" Target="/ppt/slides/slide4.xml"></Relationship>
  <Relationship Id="rId5" Type="http://schemas.openxmlformats.org/officeDocument/2006/relationships/slide" Target="/ppt/slides/slide5.xml"></Relationship>
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Quarterly Sales by Region</a:t>
            </a:r>
          </a:p>
        </c:rich>
      </c:tx>
    </c:title>
    <c:plotArea>
      <c:barChart>
        <c:barDir val="col"/>
        <c:grouping val="clustered"/>
        <c:varyColors val="0"/>
        <c:ser>
          <c:idx val="0"/>
          <c:order val="0"/>
          <c:tx>
            <c:v>North</c:v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150</c:v>
                </c:pt>
                <c:pt idx="2">
                  <c:v>180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v>South</c:v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130</c:v>
                </c:pt>
                <c:pt idx="2">
                  <c:v>160</c:v>
                </c:pt>
                <c:pt idx="3">
                  <c:v>190</c:v>
                </c:pt>
              </c:numCache>
            </c:numRef>
          </c:val>
        </c:ser>
        <c:ser>
          <c:idx val="2"/>
          <c:order val="2"/>
          <c:tx>
            <c:v>East</c:v>
          </c:tx>
          <c:spPr>
            <a:solidFill>
              <a:srgbClr val="A5A5A5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80</c:v>
                </c:pt>
                <c:pt idx="1">
                  <c:v>110</c:v>
                </c:pt>
                <c:pt idx="2">
                  <c:v>140</c:v>
                </c:pt>
                <c:pt idx="3">
                  <c:v>170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</c:legend>
  </c:chart>
</c:chartSpace>
</file>

<file path=ppt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Average Temperature by City (2024)</a:t>
            </a:r>
          </a:p>
        </c:rich>
      </c:tx>
    </c:title>
    <c:plotArea>
      <c:lineChart>
        <c:grouping val="standard"/>
        <c:varyColors val="0"/>
        <c:ser>
          <c:idx val="0"/>
          <c:order val="0"/>
          <c:tx>
            <c:v>New York</c:v>
          </c:tx>
          <c:spPr>
            <a:ln w="28575">
              <a:solidFill>
                <a:srgbClr val="4472C4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35</c:v>
                </c:pt>
                <c:pt idx="2">
                  <c:v>45</c:v>
                </c:pt>
                <c:pt idx="3">
                  <c:v>56</c:v>
                </c:pt>
                <c:pt idx="4">
                  <c:v>67</c:v>
                </c:pt>
                <c:pt idx="5">
                  <c:v>76</c:v>
                </c:pt>
                <c:pt idx="6">
                  <c:v>81</c:v>
                </c:pt>
                <c:pt idx="7">
                  <c:v>79</c:v>
                </c:pt>
                <c:pt idx="8">
                  <c:v>71</c:v>
                </c:pt>
                <c:pt idx="9">
                  <c:v>60</c:v>
                </c:pt>
                <c:pt idx="10">
                  <c:v>48</c:v>
                </c:pt>
                <c:pt idx="11">
                  <c:v>37</c:v>
                </c:pt>
              </c:numCache>
            </c:numRef>
          </c:val>
        </c:ser>
        <c:ser>
          <c:idx val="1"/>
          <c:order val="1"/>
          <c:tx>
            <c:v>Los Angeles</c:v>
          </c:tx>
          <c:spPr>
            <a:ln w="28575">
              <a:solidFill>
                <a:srgbClr val="ED7D31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58</c:v>
                </c:pt>
                <c:pt idx="1">
                  <c:v>60</c:v>
                </c:pt>
                <c:pt idx="2">
                  <c:v>63</c:v>
                </c:pt>
                <c:pt idx="3">
                  <c:v>66</c:v>
                </c:pt>
                <c:pt idx="4">
                  <c:v>69</c:v>
                </c:pt>
                <c:pt idx="5">
                  <c:v>73</c:v>
                </c:pt>
                <c:pt idx="6">
                  <c:v>77</c:v>
                </c:pt>
                <c:pt idx="7">
                  <c:v>78</c:v>
                </c:pt>
                <c:pt idx="8">
                  <c:v>76</c:v>
                </c:pt>
                <c:pt idx="9">
                  <c:v>71</c:v>
                </c:pt>
                <c:pt idx="10">
                  <c:v>64</c:v>
                </c:pt>
                <c:pt idx="11">
                  <c:v>59</c:v>
                </c:pt>
              </c:numCache>
            </c:numRef>
          </c:val>
        </c:ser>
        <c:ser>
          <c:idx val="2"/>
          <c:order val="2"/>
          <c:tx>
            <c:v>Chicago</c:v>
          </c:tx>
          <c:spPr>
            <a:ln w="28575">
              <a:solidFill>
                <a:srgbClr val="A5A5A5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25</c:v>
                </c:pt>
                <c:pt idx="1">
                  <c:v>29</c:v>
                </c:pt>
                <c:pt idx="2">
                  <c:v>40</c:v>
                </c:pt>
                <c:pt idx="3">
                  <c:v>52</c:v>
                </c:pt>
                <c:pt idx="4">
                  <c:v>63</c:v>
                </c:pt>
                <c:pt idx="5">
                  <c:v>73</c:v>
                </c:pt>
                <c:pt idx="6">
                  <c:v>77</c:v>
                </c:pt>
                <c:pt idx="7">
                  <c:v>76</c:v>
                </c:pt>
                <c:pt idx="8">
                  <c:v>68</c:v>
                </c:pt>
                <c:pt idx="9">
                  <c:v>55</c:v>
                </c:pt>
                <c:pt idx="10">
                  <c:v>42</c:v>
                </c:pt>
                <c:pt idx="11">
                  <c:v>30</c:v>
                </c:pt>
              </c:numCache>
            </c:numRef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Market Share by Company</a:t>
            </a:r>
          </a:p>
        </c:rich>
      </c:tx>
    </c:title>
    <c:plotArea>
      <c:pieChart>
        <c:varyColors val="1"/>
        <c:ser>
          <c:idx val="0"/>
          <c:order val="0"/>
          <c:cat>
            <c:strRef>
              <c:f>Sheet1!$A$2:$A$6</c:f>
              <c:strCache>
                <c:ptCount val="5"/>
                <c:pt idx="0">
                  <c:v>Company A</c:v>
                </c:pt>
                <c:pt idx="1">
                  <c:v>Company B</c:v>
                </c:pt>
                <c:pt idx="2">
                  <c:v>Company C</c:v>
                </c:pt>
                <c:pt idx="3">
                  <c:v>Company D</c:v>
                </c:pt>
                <c:pt idx="4">
                  <c:v>Company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</c:ser>
      </c:pieChart>
    </c:plotArea>
    <c:legend>
      <c:legendPos val="r"/>
    </c:legend>
  </c:chart>
</c:chartSpace>
</file>

<file path=ppt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Revenue Growth by Product Line</a:t>
            </a:r>
          </a:p>
        </c:rich>
      </c:tx>
    </c:title>
    <c:plotArea>
      <c:areaChart>
        <c:grouping val="stacked"/>
        <c:varyColors val="0"/>
        <c:ser>
          <c:idx val="0"/>
          <c:order val="0"/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  <c:pt idx="3">
                  <c:v>160</c:v>
                </c:pt>
                <c:pt idx="4">
                  <c:v>180</c:v>
                </c:pt>
                <c:pt idx="5">
                  <c:v>200</c:v>
                </c:pt>
              </c:numCache>
            </c:numRef>
          </c:val>
        </c:ser>
        <c:ser>
          <c:idx val="1"/>
          <c:order val="1"/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125</c:v>
                </c:pt>
                <c:pt idx="4">
                  <c:v>140</c:v>
                </c:pt>
                <c:pt idx="5">
                  <c:v>155</c:v>
                </c:pt>
              </c:numCache>
            </c:numRef>
          </c:val>
        </c:ser>
        <c:ser>
          <c:idx val="2"/>
          <c:order val="2"/>
          <c:spPr>
            <a:solidFill>
              <a:srgbClr val="A5A5A5"/>
            </a:solidFill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  <c:pt idx="4">
                  <c:v>100</c:v>
                </c:pt>
                <c:pt idx="5">
                  <c:v>110</c:v>
                </c:pt>
              </c:numCache>
            </c:numRef>
          </c:val>
        </c:ser>
        <c:axId val="1"/>
        <c:axId val="2"/>
      </c:area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t"/>
    </c:legend>
  </c:chart>
</c:chartSpace>
</file>

<file path=ppt/charts/chart5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Product Demand vs Price Point</a:t>
            </a:r>
          </a:p>
        </c:rich>
      </c:tx>
    </c:title>
    <c:plotArea>
      <c:scatterChart>
        <c:scatterStyle val="lineMarker"/>
        <c:varyColors val="0"/>
        <c:ser>
          <c:idx val="0"/>
          <c:order val="0"/>
          <c:spPr>
            <a:solidFill>
              <a:srgbClr val="4472C4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95</c:v>
                </c:pt>
                <c:pt idx="2">
                  <c:v>85</c:v>
                </c:pt>
                <c:pt idx="3">
                  <c:v>75</c:v>
                </c:pt>
                <c:pt idx="4">
                  <c:v>65</c:v>
                </c:pt>
                <c:pt idx="5">
                  <c:v>55</c:v>
                </c:pt>
                <c:pt idx="6">
                  <c:v>45</c:v>
                </c:pt>
                <c:pt idx="7">
                  <c:v>35</c:v>
                </c:pt>
                <c:pt idx="8">
                  <c:v>25</c:v>
                </c:pt>
                <c:pt idx="9">
                  <c:v>20</c:v>
                </c:pt>
              </c:numCache>
            </c:numRef>
          </c:yVal>
        </c:ser>
        <c:ser>
          <c:idx val="1"/>
          <c:order val="1"/>
          <c:spPr>
            <a:solidFill>
              <a:srgbClr val="ED7D31"/>
            </a:solidFill>
          </c:spPr>
          <c:xVal>
            <c:numRef>
              <c:f>Sheet1!$A$2:$A$11</c:f>
              <c:numCache>
                <c:formatCode>General</c:formatCode>
                <c:ptCount val="10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25</c:v>
                </c:pt>
                <c:pt idx="4">
                  <c:v>30</c:v>
                </c:pt>
                <c:pt idx="5">
                  <c:v>35</c:v>
                </c:pt>
                <c:pt idx="6">
                  <c:v>40</c:v>
                </c:pt>
                <c:pt idx="7">
                  <c:v>45</c:v>
                </c:pt>
                <c:pt idx="8">
                  <c:v>50</c:v>
                </c:pt>
                <c:pt idx="9">
                  <c:v>55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90</c:v>
                </c:pt>
                <c:pt idx="1">
                  <c:v>85</c:v>
                </c:pt>
                <c:pt idx="2">
                  <c:v>78</c:v>
                </c:pt>
                <c:pt idx="3">
                  <c:v>70</c:v>
                </c:pt>
                <c:pt idx="4">
                  <c:v>62</c:v>
                </c:pt>
                <c:pt idx="5">
                  <c:v>54</c:v>
                </c:pt>
                <c:pt idx="6">
                  <c:v>46</c:v>
                </c:pt>
                <c:pt idx="7">
                  <c:v>38</c:v>
                </c:pt>
                <c:pt idx="8">
                  <c:v>30</c:v>
                </c:pt>
                <c:pt idx="9">
                  <c:v>25</c:v>
                </c:pt>
              </c:numCache>
            </c:numRef>
          </c:yVal>
        </c:ser>
        <c:axId val="1"/>
        <c:axId val="2"/>
      </c:scatterChart>
      <c:valAx>
        <c:axId val="1"/>
        <c:scaling>
          <c:orientation val="minMax"/>
        </c:scaling>
        <c:axPos val="b"/>
        <c:crossAx val="2"/>
      </c:valAx>
      <c:valAx>
        <c:axId val="2"/>
        <c:scaling>
          <c:orientation val="minMax"/>
        </c:scaling>
        <c:axPos val="l"/>
        <c:crossAx val="1"/>
      </c:valAx>
    </c:plotArea>
    <c:legend>
      <c:legendPos val="b"/>
    </c:legend>
  </c:chart>
</c:chartSpace>
</file>

<file path=ppt/charts/chart6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2024 Department Budget Distribution</a:t>
            </a:r>
          </a:p>
        </c:rich>
      </c:tx>
    </c:title>
    <c:plotArea>
      <c:doughnutChart>
        <c:varyColors val="1"/>
        <c:holeSize val="50"/>
        <c:ser>
          <c:idx val="0"/>
          <c:order val="0"/>
          <c:cat>
            <c:strRef>
              <c:f>Sheet1!$A$2:$A$7</c:f>
              <c:strCache>
                <c:ptCount val="6"/>
                <c:pt idx="0">
                  <c:v>Engineering</c:v>
                </c:pt>
                <c:pt idx="1">
                  <c:v>Marketing</c:v>
                </c:pt>
                <c:pt idx="2">
                  <c:v>Sales</c:v>
                </c:pt>
                <c:pt idx="3">
                  <c:v>Operations</c:v>
                </c:pt>
                <c:pt idx="4">
                  <c:v>HR</c:v>
                </c:pt>
                <c:pt idx="5">
                  <c:v>R&amp;D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20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dPt>
            <c:idx val="0"/>
            <c:spPr>
              <a:solidFill>
                <a:srgbClr val="4472C4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70AD47"/>
              </a:solidFill>
            </c:spPr>
          </c:dPt>
        </c:ser>
      </c:doughnutChart>
    </c:plotArea>
    <c:legend>
      <c:legendPos val="r"/>
    </c:legend>
  </c:chart>
</c:chartSpace>
</file>

<file path=ppt/slides/_rels/slide1.xml.rels><?xml version="1.0" encoding="UTF-8"?>
<Relationships xmlns="http://schemas.openxmlformats.org/package/2006/relationships">
  <Relationship Id="rId1" Type="http://schemas.openxmlformats.org/officeDocument/2006/relationships/chart" Target="/ppt/charts/chart1.xml"></Relationship>
</Relationships>
</file>

<file path=ppt/slides/_rels/slide2.xml.rels><?xml version="1.0" encoding="UTF-8"?>
<Relationships xmlns="http://schemas.openxmlformats.org/package/2006/relationships">
  <Relationship Id="rId1" Type="http://schemas.openxmlformats.org/officeDocument/2006/relationships/chart" Target="/ppt/charts/chart2.xml"></Relationship>
</Relationships>
</file>

<file path=ppt/slides/_rels/slide3.xml.rels><?xml version="1.0" encoding="UTF-8"?>
<Relationships xmlns="http://schemas.openxmlformats.org/package/2006/relationships">
  <Relationship Id="rId1" Type="http://schemas.openxmlformats.org/officeDocument/2006/relationships/chart" Target="/ppt/charts/chart3.xml"></Relationship>
</Relationships>
</file>

<file path=ppt/slides/_rels/slide4.xml.rels><?xml version="1.0" encoding="UTF-8"?>
<Relationships xmlns="http://schemas.openxmlformats.org/package/2006/relationships">
  <Relationship Id="rId1" Type="http://schemas.openxmlformats.org/officeDocument/2006/relationships/chart" Target="/ppt/charts/chart4.xml"></Relationship>
</Relationships>
</file>

<file path=ppt/slides/_rels/slide5.xml.rels><?xml version="1.0" encoding="UTF-8"?>
<Relationships xmlns="http://schemas.openxmlformats.org/package/2006/relationships">
  <Relationship Id="rId1" Type="http://schemas.openxmlformats.org/officeDocument/2006/relationships/chart" Target="/ppt/charts/chart5.xml"></Relationship>
</Relationships>
</file>

<file path=ppt/slides/_rels/slide6.xml.rels><?xml version="1.0" encoding="UTF-8"?>
<Relationships xmlns="http://schemas.openxmlformats.org/package/2006/relationships">
  <Relationship Id="rId1" Type="http://schemas.openxmlformats.org/officeDocument/2006/relationships/chart" Target="/ppt/charts/chart6.xml"></Relationship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Quarterly Sales Comparison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Monthly Temperature Trends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3" name="Shape 3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Market Share Distribution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4" name="Shape 4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Cumulative Revenue Growth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5" name="Shape 5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Price vs Demand Analysis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6" name="Shape 6"/>
          <p:cNvSpPr/>
          <p:nvPr/>
        </p:nvSpPr>
        <a:spPr>
          <a:xfrm>
            <a:off x="914400" y="365125"/>
            <a:ext cx="7315200" cy="914400"/>
          </a:xfrm>
        </a:spPr>
        <p:txBody>
          <a:bodyPr/>
          <a:p>
            <a:r>
              <a:rPr sz="2800"/>
              <a:t>Annual Budget Allocation</a:t>
            </a:r>
          </a:p>
        </p:txBody>
      </p:sp>
      <p:graphicFrame>
        <p:nvGraphicFramePr>
          <p:cNvPr id="1" name="Graphic Frame"/>
          <p:cNvGraphicFramePr/>
          <p:nvPr/>
        </p:nvGraphicFramePr>
        <p:xfrm>
          <a:off x="1524000" y="1828800"/>
          <a:ext cx="6096000" cy="4572000"/>
        </p:xfrm>
        <a:graphic>
          <a:graphicData uri="http://schemas.openxmlformats.org/drawingml/2006/chart">
            <c:chart xmlns:r="http://schemas.openxmlformats.org/officeDocument/2006/relationships" r:id="rId1"/>
          </a:graphicData>
        </a:graphic>
      </p:graphicFrame>
    </p:spTree>
  </p:cSld>
</p:sld>
</file>